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312275" cy="7218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3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421" y="1181339"/>
            <a:ext cx="7915434" cy="2513060"/>
          </a:xfrm>
        </p:spPr>
        <p:txBody>
          <a:bodyPr anchor="b"/>
          <a:lstStyle>
            <a:lvl1pPr algn="ctr">
              <a:defRPr sz="61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035" y="3791312"/>
            <a:ext cx="6984206" cy="1742766"/>
          </a:xfrm>
        </p:spPr>
        <p:txBody>
          <a:bodyPr/>
          <a:lstStyle>
            <a:lvl1pPr marL="0" indent="0" algn="ctr">
              <a:buNone/>
              <a:defRPr sz="2444"/>
            </a:lvl1pPr>
            <a:lvl2pPr marL="465612" indent="0" algn="ctr">
              <a:buNone/>
              <a:defRPr sz="2037"/>
            </a:lvl2pPr>
            <a:lvl3pPr marL="931225" indent="0" algn="ctr">
              <a:buNone/>
              <a:defRPr sz="1833"/>
            </a:lvl3pPr>
            <a:lvl4pPr marL="1396837" indent="0" algn="ctr">
              <a:buNone/>
              <a:defRPr sz="1629"/>
            </a:lvl4pPr>
            <a:lvl5pPr marL="1862450" indent="0" algn="ctr">
              <a:buNone/>
              <a:defRPr sz="1629"/>
            </a:lvl5pPr>
            <a:lvl6pPr marL="2328062" indent="0" algn="ctr">
              <a:buNone/>
              <a:defRPr sz="1629"/>
            </a:lvl6pPr>
            <a:lvl7pPr marL="2793675" indent="0" algn="ctr">
              <a:buNone/>
              <a:defRPr sz="1629"/>
            </a:lvl7pPr>
            <a:lvl8pPr marL="3259287" indent="0" algn="ctr">
              <a:buNone/>
              <a:defRPr sz="1629"/>
            </a:lvl8pPr>
            <a:lvl9pPr marL="3724900" indent="0" algn="ctr">
              <a:buNone/>
              <a:defRPr sz="162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32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18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369" y="1799580"/>
            <a:ext cx="8031837" cy="3002638"/>
          </a:xfrm>
        </p:spPr>
        <p:txBody>
          <a:bodyPr anchor="b"/>
          <a:lstStyle>
            <a:lvl1pPr>
              <a:defRPr sz="61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369" y="4830624"/>
            <a:ext cx="8031837" cy="1579016"/>
          </a:xfrm>
        </p:spPr>
        <p:txBody>
          <a:bodyPr/>
          <a:lstStyle>
            <a:lvl1pPr marL="0" indent="0">
              <a:buNone/>
              <a:defRPr sz="2444">
                <a:solidFill>
                  <a:schemeClr val="tx1">
                    <a:tint val="82000"/>
                  </a:schemeClr>
                </a:solidFill>
              </a:defRPr>
            </a:lvl1pPr>
            <a:lvl2pPr marL="465612" indent="0">
              <a:buNone/>
              <a:defRPr sz="2037">
                <a:solidFill>
                  <a:schemeClr val="tx1">
                    <a:tint val="82000"/>
                  </a:schemeClr>
                </a:solidFill>
              </a:defRPr>
            </a:lvl2pPr>
            <a:lvl3pPr marL="931225" indent="0">
              <a:buNone/>
              <a:defRPr sz="1833">
                <a:solidFill>
                  <a:schemeClr val="tx1">
                    <a:tint val="82000"/>
                  </a:schemeClr>
                </a:solidFill>
              </a:defRPr>
            </a:lvl3pPr>
            <a:lvl4pPr marL="1396837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4pPr>
            <a:lvl5pPr marL="1862450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5pPr>
            <a:lvl6pPr marL="2328062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6pPr>
            <a:lvl7pPr marL="2793675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7pPr>
            <a:lvl8pPr marL="3259287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8pPr>
            <a:lvl9pPr marL="3724900" indent="0">
              <a:buNone/>
              <a:defRPr sz="162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63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219" y="1921555"/>
            <a:ext cx="3957717" cy="4579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4339" y="1921555"/>
            <a:ext cx="3957717" cy="4579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80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384312"/>
            <a:ext cx="8031837" cy="13952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1433" y="1769502"/>
            <a:ext cx="3939528" cy="867206"/>
          </a:xfrm>
        </p:spPr>
        <p:txBody>
          <a:bodyPr anchor="b"/>
          <a:lstStyle>
            <a:lvl1pPr marL="0" indent="0">
              <a:buNone/>
              <a:defRPr sz="2444" b="1"/>
            </a:lvl1pPr>
            <a:lvl2pPr marL="465612" indent="0">
              <a:buNone/>
              <a:defRPr sz="2037" b="1"/>
            </a:lvl2pPr>
            <a:lvl3pPr marL="931225" indent="0">
              <a:buNone/>
              <a:defRPr sz="1833" b="1"/>
            </a:lvl3pPr>
            <a:lvl4pPr marL="1396837" indent="0">
              <a:buNone/>
              <a:defRPr sz="1629" b="1"/>
            </a:lvl4pPr>
            <a:lvl5pPr marL="1862450" indent="0">
              <a:buNone/>
              <a:defRPr sz="1629" b="1"/>
            </a:lvl5pPr>
            <a:lvl6pPr marL="2328062" indent="0">
              <a:buNone/>
              <a:defRPr sz="1629" b="1"/>
            </a:lvl6pPr>
            <a:lvl7pPr marL="2793675" indent="0">
              <a:buNone/>
              <a:defRPr sz="1629" b="1"/>
            </a:lvl7pPr>
            <a:lvl8pPr marL="3259287" indent="0">
              <a:buNone/>
              <a:defRPr sz="1629" b="1"/>
            </a:lvl8pPr>
            <a:lvl9pPr marL="3724900" indent="0">
              <a:buNone/>
              <a:defRPr sz="162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433" y="2636707"/>
            <a:ext cx="3939528" cy="38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4340" y="1769502"/>
            <a:ext cx="3958930" cy="867206"/>
          </a:xfrm>
        </p:spPr>
        <p:txBody>
          <a:bodyPr anchor="b"/>
          <a:lstStyle>
            <a:lvl1pPr marL="0" indent="0">
              <a:buNone/>
              <a:defRPr sz="2444" b="1"/>
            </a:lvl1pPr>
            <a:lvl2pPr marL="465612" indent="0">
              <a:buNone/>
              <a:defRPr sz="2037" b="1"/>
            </a:lvl2pPr>
            <a:lvl3pPr marL="931225" indent="0">
              <a:buNone/>
              <a:defRPr sz="1833" b="1"/>
            </a:lvl3pPr>
            <a:lvl4pPr marL="1396837" indent="0">
              <a:buNone/>
              <a:defRPr sz="1629" b="1"/>
            </a:lvl4pPr>
            <a:lvl5pPr marL="1862450" indent="0">
              <a:buNone/>
              <a:defRPr sz="1629" b="1"/>
            </a:lvl5pPr>
            <a:lvl6pPr marL="2328062" indent="0">
              <a:buNone/>
              <a:defRPr sz="1629" b="1"/>
            </a:lvl6pPr>
            <a:lvl7pPr marL="2793675" indent="0">
              <a:buNone/>
              <a:defRPr sz="1629" b="1"/>
            </a:lvl7pPr>
            <a:lvl8pPr marL="3259287" indent="0">
              <a:buNone/>
              <a:defRPr sz="1629" b="1"/>
            </a:lvl8pPr>
            <a:lvl9pPr marL="3724900" indent="0">
              <a:buNone/>
              <a:defRPr sz="162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4340" y="2636707"/>
            <a:ext cx="3958930" cy="38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59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2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99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481224"/>
            <a:ext cx="3003451" cy="1684285"/>
          </a:xfrm>
        </p:spPr>
        <p:txBody>
          <a:bodyPr anchor="b"/>
          <a:lstStyle>
            <a:lvl1pPr>
              <a:defRPr sz="32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930" y="1039312"/>
            <a:ext cx="4714339" cy="5129716"/>
          </a:xfrm>
        </p:spPr>
        <p:txBody>
          <a:bodyPr/>
          <a:lstStyle>
            <a:lvl1pPr>
              <a:defRPr sz="3259"/>
            </a:lvl1pPr>
            <a:lvl2pPr>
              <a:defRPr sz="2852"/>
            </a:lvl2pPr>
            <a:lvl3pPr>
              <a:defRPr sz="2444"/>
            </a:lvl3pPr>
            <a:lvl4pPr>
              <a:defRPr sz="2037"/>
            </a:lvl4pPr>
            <a:lvl5pPr>
              <a:defRPr sz="2037"/>
            </a:lvl5pPr>
            <a:lvl6pPr>
              <a:defRPr sz="2037"/>
            </a:lvl6pPr>
            <a:lvl7pPr>
              <a:defRPr sz="2037"/>
            </a:lvl7pPr>
            <a:lvl8pPr>
              <a:defRPr sz="2037"/>
            </a:lvl8pPr>
            <a:lvl9pPr>
              <a:defRPr sz="20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432" y="2165509"/>
            <a:ext cx="3003451" cy="4011873"/>
          </a:xfrm>
        </p:spPr>
        <p:txBody>
          <a:bodyPr/>
          <a:lstStyle>
            <a:lvl1pPr marL="0" indent="0">
              <a:buNone/>
              <a:defRPr sz="1629"/>
            </a:lvl1pPr>
            <a:lvl2pPr marL="465612" indent="0">
              <a:buNone/>
              <a:defRPr sz="1426"/>
            </a:lvl2pPr>
            <a:lvl3pPr marL="931225" indent="0">
              <a:buNone/>
              <a:defRPr sz="1222"/>
            </a:lvl3pPr>
            <a:lvl4pPr marL="1396837" indent="0">
              <a:buNone/>
              <a:defRPr sz="1018"/>
            </a:lvl4pPr>
            <a:lvl5pPr marL="1862450" indent="0">
              <a:buNone/>
              <a:defRPr sz="1018"/>
            </a:lvl5pPr>
            <a:lvl6pPr marL="2328062" indent="0">
              <a:buNone/>
              <a:defRPr sz="1018"/>
            </a:lvl6pPr>
            <a:lvl7pPr marL="2793675" indent="0">
              <a:buNone/>
              <a:defRPr sz="1018"/>
            </a:lvl7pPr>
            <a:lvl8pPr marL="3259287" indent="0">
              <a:buNone/>
              <a:defRPr sz="1018"/>
            </a:lvl8pPr>
            <a:lvl9pPr marL="3724900" indent="0">
              <a:buNone/>
              <a:defRPr sz="10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88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32" y="481224"/>
            <a:ext cx="3003451" cy="1684285"/>
          </a:xfrm>
        </p:spPr>
        <p:txBody>
          <a:bodyPr anchor="b"/>
          <a:lstStyle>
            <a:lvl1pPr>
              <a:defRPr sz="32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58930" y="1039312"/>
            <a:ext cx="4714339" cy="5129716"/>
          </a:xfrm>
        </p:spPr>
        <p:txBody>
          <a:bodyPr anchor="t"/>
          <a:lstStyle>
            <a:lvl1pPr marL="0" indent="0">
              <a:buNone/>
              <a:defRPr sz="3259"/>
            </a:lvl1pPr>
            <a:lvl2pPr marL="465612" indent="0">
              <a:buNone/>
              <a:defRPr sz="2852"/>
            </a:lvl2pPr>
            <a:lvl3pPr marL="931225" indent="0">
              <a:buNone/>
              <a:defRPr sz="2444"/>
            </a:lvl3pPr>
            <a:lvl4pPr marL="1396837" indent="0">
              <a:buNone/>
              <a:defRPr sz="2037"/>
            </a:lvl4pPr>
            <a:lvl5pPr marL="1862450" indent="0">
              <a:buNone/>
              <a:defRPr sz="2037"/>
            </a:lvl5pPr>
            <a:lvl6pPr marL="2328062" indent="0">
              <a:buNone/>
              <a:defRPr sz="2037"/>
            </a:lvl6pPr>
            <a:lvl7pPr marL="2793675" indent="0">
              <a:buNone/>
              <a:defRPr sz="2037"/>
            </a:lvl7pPr>
            <a:lvl8pPr marL="3259287" indent="0">
              <a:buNone/>
              <a:defRPr sz="2037"/>
            </a:lvl8pPr>
            <a:lvl9pPr marL="3724900" indent="0">
              <a:buNone/>
              <a:defRPr sz="20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432" y="2165509"/>
            <a:ext cx="3003451" cy="4011873"/>
          </a:xfrm>
        </p:spPr>
        <p:txBody>
          <a:bodyPr/>
          <a:lstStyle>
            <a:lvl1pPr marL="0" indent="0">
              <a:buNone/>
              <a:defRPr sz="1629"/>
            </a:lvl1pPr>
            <a:lvl2pPr marL="465612" indent="0">
              <a:buNone/>
              <a:defRPr sz="1426"/>
            </a:lvl2pPr>
            <a:lvl3pPr marL="931225" indent="0">
              <a:buNone/>
              <a:defRPr sz="1222"/>
            </a:lvl3pPr>
            <a:lvl4pPr marL="1396837" indent="0">
              <a:buNone/>
              <a:defRPr sz="1018"/>
            </a:lvl4pPr>
            <a:lvl5pPr marL="1862450" indent="0">
              <a:buNone/>
              <a:defRPr sz="1018"/>
            </a:lvl5pPr>
            <a:lvl6pPr marL="2328062" indent="0">
              <a:buNone/>
              <a:defRPr sz="1018"/>
            </a:lvl6pPr>
            <a:lvl7pPr marL="2793675" indent="0">
              <a:buNone/>
              <a:defRPr sz="1018"/>
            </a:lvl7pPr>
            <a:lvl8pPr marL="3259287" indent="0">
              <a:buNone/>
              <a:defRPr sz="1018"/>
            </a:lvl8pPr>
            <a:lvl9pPr marL="3724900" indent="0">
              <a:buNone/>
              <a:defRPr sz="10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90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18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4097" y="384311"/>
            <a:ext cx="2007959" cy="61172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220" y="384311"/>
            <a:ext cx="5907474" cy="61172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732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219" y="384312"/>
            <a:ext cx="8031837" cy="1395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219" y="1921555"/>
            <a:ext cx="8031837" cy="4579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219" y="6690355"/>
            <a:ext cx="2095262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046B4-4BFC-41D3-8E30-6ED4B9AAA4DB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4691" y="6690355"/>
            <a:ext cx="3142893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6794" y="6690355"/>
            <a:ext cx="2095262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E19D3-2F77-4064-BD19-FBE33CB2EF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24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31225" rtl="0" eaLnBrk="1" latinLnBrk="0" hangingPunct="1">
        <a:lnSpc>
          <a:spcPct val="90000"/>
        </a:lnSpc>
        <a:spcBef>
          <a:spcPct val="0"/>
        </a:spcBef>
        <a:buNone/>
        <a:defRPr sz="44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2806" indent="-232806" algn="l" defTabSz="931225" rtl="0" eaLnBrk="1" latinLnBrk="0" hangingPunct="1">
        <a:lnSpc>
          <a:spcPct val="90000"/>
        </a:lnSpc>
        <a:spcBef>
          <a:spcPts val="1018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1pPr>
      <a:lvl2pPr marL="698419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2444" kern="1200">
          <a:solidFill>
            <a:schemeClr val="tx1"/>
          </a:solidFill>
          <a:latin typeface="+mn-lt"/>
          <a:ea typeface="+mn-ea"/>
          <a:cs typeface="+mn-cs"/>
        </a:defRPr>
      </a:lvl2pPr>
      <a:lvl3pPr marL="1164031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2037" kern="1200">
          <a:solidFill>
            <a:schemeClr val="tx1"/>
          </a:solidFill>
          <a:latin typeface="+mn-lt"/>
          <a:ea typeface="+mn-ea"/>
          <a:cs typeface="+mn-cs"/>
        </a:defRPr>
      </a:lvl3pPr>
      <a:lvl4pPr marL="1629644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4pPr>
      <a:lvl5pPr marL="2095256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5pPr>
      <a:lvl6pPr marL="2560869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6pPr>
      <a:lvl7pPr marL="3026481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3492094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3957706" indent="-232806" algn="l" defTabSz="931225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1pPr>
      <a:lvl2pPr marL="465612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2pPr>
      <a:lvl3pPr marL="931225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3pPr>
      <a:lvl4pPr marL="1396837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4pPr>
      <a:lvl5pPr marL="1862450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5pPr>
      <a:lvl6pPr marL="2328062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6pPr>
      <a:lvl7pPr marL="2793675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3259287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3724900" algn="l" defTabSz="931225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31E4C4-AD09-89F7-124C-EEBBD33103C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27" y="0"/>
            <a:ext cx="7445220" cy="460894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31B3E6-E5A3-D10C-812E-857BEB54A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972194"/>
              </p:ext>
            </p:extLst>
          </p:nvPr>
        </p:nvGraphicFramePr>
        <p:xfrm>
          <a:off x="1127197" y="4814929"/>
          <a:ext cx="7057880" cy="22125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32363">
                  <a:extLst>
                    <a:ext uri="{9D8B030D-6E8A-4147-A177-3AD203B41FA5}">
                      <a16:colId xmlns:a16="http://schemas.microsoft.com/office/drawing/2014/main" val="226598311"/>
                    </a:ext>
                  </a:extLst>
                </a:gridCol>
                <a:gridCol w="1579419">
                  <a:extLst>
                    <a:ext uri="{9D8B030D-6E8A-4147-A177-3AD203B41FA5}">
                      <a16:colId xmlns:a16="http://schemas.microsoft.com/office/drawing/2014/main" val="771069237"/>
                    </a:ext>
                  </a:extLst>
                </a:gridCol>
                <a:gridCol w="1459345">
                  <a:extLst>
                    <a:ext uri="{9D8B030D-6E8A-4147-A177-3AD203B41FA5}">
                      <a16:colId xmlns:a16="http://schemas.microsoft.com/office/drawing/2014/main" val="239962482"/>
                    </a:ext>
                  </a:extLst>
                </a:gridCol>
                <a:gridCol w="1386753">
                  <a:extLst>
                    <a:ext uri="{9D8B030D-6E8A-4147-A177-3AD203B41FA5}">
                      <a16:colId xmlns:a16="http://schemas.microsoft.com/office/drawing/2014/main" val="659516361"/>
                    </a:ext>
                  </a:extLst>
                </a:gridCol>
              </a:tblGrid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Cost Breakdown (b €)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12 Days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17 Days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52 Days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672933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Capital cost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277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279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281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704040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Fixed O&amp;M Cost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154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154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153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290519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Variable O&amp;M Cost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11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11.2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11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500729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Fuel Cost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160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163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161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364481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Carbon Cost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81.5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81.5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81.5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490608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Curtailment Cost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2.23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2.12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UCL Sans Light" pitchFamily="2" charset="0"/>
                        </a:rPr>
                        <a:t>2.21</a:t>
                      </a:r>
                    </a:p>
                  </a:txBody>
                  <a:tcPr marL="77938" marR="77938" marT="38969" marB="389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321100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9436B6-6A83-2EFF-8113-3E2FE4768AF0}"/>
              </a:ext>
            </a:extLst>
          </p:cNvPr>
          <p:cNvSpPr txBox="1"/>
          <p:nvPr/>
        </p:nvSpPr>
        <p:spPr>
          <a:xfrm>
            <a:off x="669140" y="4306177"/>
            <a:ext cx="45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abic 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C4812-F01C-16CA-02DF-D612E92AC525}"/>
              </a:ext>
            </a:extLst>
          </p:cNvPr>
          <p:cNvSpPr txBox="1"/>
          <p:nvPr/>
        </p:nvSpPr>
        <p:spPr>
          <a:xfrm>
            <a:off x="669139" y="0"/>
            <a:ext cx="45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abic 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75649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50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Arabic </vt:lpstr>
      <vt:lpstr>Arial</vt:lpstr>
      <vt:lpstr>UCL Sans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2026-09-27T16:53:32Z</dcterms:created>
  <dcterms:modified xsi:type="dcterms:W3CDTF">2026-09-27T18:18:31Z</dcterms:modified>
</cp:coreProperties>
</file>